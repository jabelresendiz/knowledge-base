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1" r:id="rId1"/>
  </p:sldMasterIdLst>
  <p:sldIdLst>
    <p:sldId id="256" r:id="rId2"/>
    <p:sldId id="265" r:id="rId3"/>
    <p:sldId id="263" r:id="rId4"/>
    <p:sldId id="266" r:id="rId5"/>
    <p:sldId id="268" r:id="rId6"/>
    <p:sldId id="269" r:id="rId7"/>
    <p:sldId id="264" r:id="rId8"/>
    <p:sldId id="267" r:id="rId9"/>
    <p:sldId id="271" r:id="rId10"/>
    <p:sldId id="272" r:id="rId11"/>
    <p:sldId id="257" r:id="rId12"/>
    <p:sldId id="260" r:id="rId13"/>
    <p:sldId id="261" r:id="rId14"/>
    <p:sldId id="262" r:id="rId15"/>
    <p:sldId id="270" r:id="rId16"/>
    <p:sldId id="25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EE7E3D7C-6A56-449F-AFEF-A9572DFD288E}" type="datetimeFigureOut">
              <a:rPr lang="es-US" smtClean="0"/>
              <a:t>6/16/2025</a:t>
            </a:fld>
            <a:endParaRPr lang="es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s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4D19DE19-F664-4D3D-9822-67560997AA5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863851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E3D7C-6A56-449F-AFEF-A9572DFD288E}" type="datetimeFigureOut">
              <a:rPr lang="es-US" smtClean="0"/>
              <a:t>6/16/2025</a:t>
            </a:fld>
            <a:endParaRPr lang="es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9DE19-F664-4D3D-9822-67560997AA5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795399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E3D7C-6A56-449F-AFEF-A9572DFD288E}" type="datetimeFigureOut">
              <a:rPr lang="es-US" smtClean="0"/>
              <a:t>6/16/2025</a:t>
            </a:fld>
            <a:endParaRPr lang="es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9DE19-F664-4D3D-9822-67560997AA5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076179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E3D7C-6A56-449F-AFEF-A9572DFD288E}" type="datetimeFigureOut">
              <a:rPr lang="es-US" smtClean="0"/>
              <a:t>6/16/2025</a:t>
            </a:fld>
            <a:endParaRPr lang="es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9DE19-F664-4D3D-9822-67560997AA5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42832132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E3D7C-6A56-449F-AFEF-A9572DFD288E}" type="datetimeFigureOut">
              <a:rPr lang="es-US" smtClean="0"/>
              <a:t>6/16/2025</a:t>
            </a:fld>
            <a:endParaRPr lang="es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9DE19-F664-4D3D-9822-67560997AA5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905740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E3D7C-6A56-449F-AFEF-A9572DFD288E}" type="datetimeFigureOut">
              <a:rPr lang="es-US" smtClean="0"/>
              <a:t>6/16/2025</a:t>
            </a:fld>
            <a:endParaRPr lang="es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9DE19-F664-4D3D-9822-67560997AA5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042943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E3D7C-6A56-449F-AFEF-A9572DFD288E}" type="datetimeFigureOut">
              <a:rPr lang="es-US" smtClean="0"/>
              <a:t>6/16/2025</a:t>
            </a:fld>
            <a:endParaRPr lang="es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9DE19-F664-4D3D-9822-67560997AA5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784899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E3D7C-6A56-449F-AFEF-A9572DFD288E}" type="datetimeFigureOut">
              <a:rPr lang="es-US" smtClean="0"/>
              <a:t>6/16/2025</a:t>
            </a:fld>
            <a:endParaRPr lang="es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9DE19-F664-4D3D-9822-67560997AA5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4743688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E3D7C-6A56-449F-AFEF-A9572DFD288E}" type="datetimeFigureOut">
              <a:rPr lang="es-US" smtClean="0"/>
              <a:t>6/16/2025</a:t>
            </a:fld>
            <a:endParaRPr lang="es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9DE19-F664-4D3D-9822-67560997AA5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775488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E3D7C-6A56-449F-AFEF-A9572DFD288E}" type="datetimeFigureOut">
              <a:rPr lang="es-US" smtClean="0"/>
              <a:t>6/16/2025</a:t>
            </a:fld>
            <a:endParaRPr lang="es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9DE19-F664-4D3D-9822-67560997AA5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590489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E3D7C-6A56-449F-AFEF-A9572DFD288E}" type="datetimeFigureOut">
              <a:rPr lang="es-US" smtClean="0"/>
              <a:t>6/16/2025</a:t>
            </a:fld>
            <a:endParaRPr lang="es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9DE19-F664-4D3D-9822-67560997AA5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9529523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E3D7C-6A56-449F-AFEF-A9572DFD288E}" type="datetimeFigureOut">
              <a:rPr lang="es-US" smtClean="0"/>
              <a:t>6/16/2025</a:t>
            </a:fld>
            <a:endParaRPr lang="es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9DE19-F664-4D3D-9822-67560997AA5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608614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E3D7C-6A56-449F-AFEF-A9572DFD288E}" type="datetimeFigureOut">
              <a:rPr lang="es-US" smtClean="0"/>
              <a:t>6/16/2025</a:t>
            </a:fld>
            <a:endParaRPr lang="es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9DE19-F664-4D3D-9822-67560997AA5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8820986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E3D7C-6A56-449F-AFEF-A9572DFD288E}" type="datetimeFigureOut">
              <a:rPr lang="es-US" smtClean="0"/>
              <a:t>6/16/2025</a:t>
            </a:fld>
            <a:endParaRPr lang="es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9DE19-F664-4D3D-9822-67560997AA5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8714720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E3D7C-6A56-449F-AFEF-A9572DFD288E}" type="datetimeFigureOut">
              <a:rPr lang="es-US" smtClean="0"/>
              <a:t>6/16/2025</a:t>
            </a:fld>
            <a:endParaRPr lang="es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s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9DE19-F664-4D3D-9822-67560997AA5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9095820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EE7E3D7C-6A56-449F-AFEF-A9572DFD288E}" type="datetimeFigureOut">
              <a:rPr lang="es-US" smtClean="0"/>
              <a:t>6/16/2025</a:t>
            </a:fld>
            <a:endParaRPr lang="es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9DE19-F664-4D3D-9822-67560997AA5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8431676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EE7E3D7C-6A56-449F-AFEF-A9572DFD288E}" type="datetimeFigureOut">
              <a:rPr lang="es-US" smtClean="0"/>
              <a:t>6/16/2025</a:t>
            </a:fld>
            <a:endParaRPr lang="es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9DE19-F664-4D3D-9822-67560997AA5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43024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EE7E3D7C-6A56-449F-AFEF-A9572DFD288E}" type="datetimeFigureOut">
              <a:rPr lang="es-US" smtClean="0"/>
              <a:t>6/16/2025</a:t>
            </a:fld>
            <a:endParaRPr lang="es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s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4D19DE19-F664-4D3D-9822-67560997AA5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408868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  <p:sldLayoutId id="2147483833" r:id="rId12"/>
    <p:sldLayoutId id="2147483834" r:id="rId13"/>
    <p:sldLayoutId id="2147483835" r:id="rId14"/>
    <p:sldLayoutId id="2147483836" r:id="rId15"/>
    <p:sldLayoutId id="2147483837" r:id="rId16"/>
    <p:sldLayoutId id="214748383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es.wikipedia.org/wiki/Lenguaje_de_programaci%C3%B3n_Eiffe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C4E1E3-4449-A8BF-1662-5A4F4A9B91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7029" y="1066800"/>
            <a:ext cx="9512527" cy="3035666"/>
          </a:xfrm>
        </p:spPr>
        <p:txBody>
          <a:bodyPr/>
          <a:lstStyle/>
          <a:p>
            <a:r>
              <a:rPr lang="es-419" sz="7200" dirty="0"/>
              <a:t>Python y la </a:t>
            </a:r>
            <a:r>
              <a:rPr lang="es-419" sz="7200" dirty="0" err="1"/>
              <a:t>Metaprogramacion</a:t>
            </a:r>
            <a:endParaRPr lang="es-US" sz="72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2D49F4-0B0F-0171-3A1A-F51E1C8E25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07029" y="4385495"/>
            <a:ext cx="8825658" cy="861420"/>
          </a:xfrm>
        </p:spPr>
        <p:txBody>
          <a:bodyPr>
            <a:normAutofit/>
          </a:bodyPr>
          <a:lstStyle/>
          <a:p>
            <a:r>
              <a:rPr lang="es-419" sz="2400" dirty="0"/>
              <a:t>Seminario #8</a:t>
            </a:r>
            <a:endParaRPr lang="es-US" sz="2400" dirty="0"/>
          </a:p>
        </p:txBody>
      </p:sp>
    </p:spTree>
    <p:extLst>
      <p:ext uri="{BB962C8B-B14F-4D97-AF65-F5344CB8AC3E}">
        <p14:creationId xmlns:p14="http://schemas.microsoft.com/office/powerpoint/2010/main" val="3379116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FB03B5-051E-9492-643A-7F74CC431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b="1" dirty="0"/>
              <a:t>Introducción a la </a:t>
            </a:r>
            <a:r>
              <a:rPr lang="es-US" b="1" dirty="0" err="1"/>
              <a:t>Metaprogramación</a:t>
            </a:r>
            <a:endParaRPr lang="es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306E0F-1677-A08C-A275-31235DB41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97" y="2995386"/>
            <a:ext cx="11341846" cy="4962071"/>
          </a:xfrm>
        </p:spPr>
        <p:txBody>
          <a:bodyPr/>
          <a:lstStyle/>
          <a:p>
            <a:r>
              <a:rPr lang="es-US" dirty="0"/>
              <a:t>La </a:t>
            </a:r>
            <a:r>
              <a:rPr lang="es-US" dirty="0" err="1"/>
              <a:t>metaprogramación</a:t>
            </a:r>
            <a:r>
              <a:rPr lang="es-US" dirty="0"/>
              <a:t> es un paradigma poderoso que consiste en escribir código capaz de manipular otro código. En esencia, nos permite crear programas que pueden leer, generar, analizar o transformar otros programas, e incluso modificarse a sí mismos durante su ejecución.</a:t>
            </a:r>
          </a:p>
          <a:p>
            <a:r>
              <a:rPr lang="es-US" dirty="0"/>
              <a:t>En el ecosistema Python, esta capacidad adquiere especial relevancia debido a la naturaleza dinámica del lenguaje. Python fue diseñado desde sus cimientos para soportar técnicas de </a:t>
            </a:r>
            <a:r>
              <a:rPr lang="es-US" dirty="0" err="1"/>
              <a:t>metaprogramación</a:t>
            </a:r>
            <a:r>
              <a:rPr lang="es-US" dirty="0"/>
              <a:t>, ofreciendo herramientas nativas que hacen posible esta magia programática. Esta característica fundamental explica por qué Python es la base de tantos </a:t>
            </a:r>
            <a:r>
              <a:rPr lang="es-US" dirty="0" err="1"/>
              <a:t>frameworks</a:t>
            </a:r>
            <a:r>
              <a:rPr lang="es-US" dirty="0"/>
              <a:t> y bibliotecas avanzadas.</a:t>
            </a:r>
          </a:p>
          <a:p>
            <a:pPr marL="0" indent="0">
              <a:buNone/>
            </a:pPr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572685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3ECD08-2F8A-F413-E4EA-1084A369D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9554" y="1017211"/>
            <a:ext cx="8761413" cy="706964"/>
          </a:xfrm>
        </p:spPr>
        <p:txBody>
          <a:bodyPr/>
          <a:lstStyle/>
          <a:p>
            <a:r>
              <a:rPr lang="es-US" b="1" dirty="0"/>
              <a:t>Decoradores</a:t>
            </a:r>
            <a:br>
              <a:rPr lang="es-US" dirty="0"/>
            </a:br>
            <a:endParaRPr lang="es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70C1E1-75A1-B598-BC8C-711A70BA6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0639" y="2908300"/>
            <a:ext cx="8825659" cy="3416300"/>
          </a:xfrm>
        </p:spPr>
        <p:txBody>
          <a:bodyPr/>
          <a:lstStyle/>
          <a:p>
            <a:r>
              <a:rPr lang="es-US" b="1" dirty="0"/>
              <a:t>¿Qué son?</a:t>
            </a:r>
          </a:p>
          <a:p>
            <a:pPr marL="0" indent="0">
              <a:buNone/>
            </a:pPr>
            <a:endParaRPr lang="es-US" dirty="0"/>
          </a:p>
          <a:p>
            <a:r>
              <a:rPr lang="es-US" dirty="0"/>
              <a:t>Funciones que </a:t>
            </a:r>
            <a:r>
              <a:rPr lang="es-US" b="1" dirty="0"/>
              <a:t>modifican o extienden</a:t>
            </a:r>
            <a:r>
              <a:rPr lang="es-US" dirty="0"/>
              <a:t> el comportamiento de otras funciones o clases.</a:t>
            </a:r>
          </a:p>
          <a:p>
            <a:r>
              <a:rPr lang="es-US" dirty="0"/>
              <a:t>Actúan como "envolturas" (</a:t>
            </a:r>
            <a:r>
              <a:rPr lang="es-US" b="1" dirty="0" err="1"/>
              <a:t>wrappers</a:t>
            </a:r>
            <a:r>
              <a:rPr lang="es-US" dirty="0"/>
              <a:t>) que añaden lógica antes o después de la ejecución de una función.</a:t>
            </a:r>
          </a:p>
          <a:p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2967800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353BD2-11ED-05A4-9BC9-FB4119F27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Ejemplo</a:t>
            </a:r>
            <a:endParaRPr lang="es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B3A3E9-8FD6-9CBF-21B3-69FB0A8A0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3170" y="2745015"/>
            <a:ext cx="8825659" cy="3416300"/>
          </a:xfrm>
        </p:spPr>
        <p:txBody>
          <a:bodyPr>
            <a:normAutofit fontScale="85000" lnSpcReduction="20000"/>
          </a:bodyPr>
          <a:lstStyle/>
          <a:p>
            <a:r>
              <a:rPr lang="es-US" dirty="0" err="1"/>
              <a:t>def</a:t>
            </a:r>
            <a:r>
              <a:rPr lang="es-US" dirty="0"/>
              <a:t> </a:t>
            </a:r>
            <a:r>
              <a:rPr lang="es-US" dirty="0" err="1"/>
              <a:t>log_time</a:t>
            </a:r>
            <a:r>
              <a:rPr lang="es-US" dirty="0"/>
              <a:t>(</a:t>
            </a:r>
            <a:r>
              <a:rPr lang="es-US" dirty="0" err="1"/>
              <a:t>func</a:t>
            </a:r>
            <a:r>
              <a:rPr lang="es-US" dirty="0"/>
              <a:t>):</a:t>
            </a:r>
          </a:p>
          <a:p>
            <a:r>
              <a:rPr lang="es-US" dirty="0"/>
              <a:t>    </a:t>
            </a:r>
            <a:r>
              <a:rPr lang="es-US" dirty="0" err="1"/>
              <a:t>def</a:t>
            </a:r>
            <a:r>
              <a:rPr lang="es-US" dirty="0"/>
              <a:t> </a:t>
            </a:r>
            <a:r>
              <a:rPr lang="es-US" dirty="0" err="1"/>
              <a:t>wrapper</a:t>
            </a:r>
            <a:r>
              <a:rPr lang="es-US" dirty="0"/>
              <a:t>(*</a:t>
            </a:r>
            <a:r>
              <a:rPr lang="es-US" dirty="0" err="1"/>
              <a:t>args</a:t>
            </a:r>
            <a:r>
              <a:rPr lang="es-US" dirty="0"/>
              <a:t>, **</a:t>
            </a:r>
            <a:r>
              <a:rPr lang="es-US" dirty="0" err="1"/>
              <a:t>kwargs</a:t>
            </a:r>
            <a:r>
              <a:rPr lang="es-US" dirty="0"/>
              <a:t>):</a:t>
            </a:r>
          </a:p>
          <a:p>
            <a:r>
              <a:rPr lang="es-US" dirty="0"/>
              <a:t>        </a:t>
            </a:r>
            <a:r>
              <a:rPr lang="es-US" dirty="0" err="1"/>
              <a:t>start</a:t>
            </a:r>
            <a:r>
              <a:rPr lang="es-US" dirty="0"/>
              <a:t> = </a:t>
            </a:r>
            <a:r>
              <a:rPr lang="es-US" dirty="0" err="1"/>
              <a:t>time.time</a:t>
            </a:r>
            <a:r>
              <a:rPr lang="es-US" dirty="0"/>
              <a:t>()</a:t>
            </a:r>
          </a:p>
          <a:p>
            <a:r>
              <a:rPr lang="es-US" dirty="0"/>
              <a:t>        </a:t>
            </a:r>
            <a:r>
              <a:rPr lang="es-US" dirty="0" err="1"/>
              <a:t>result</a:t>
            </a:r>
            <a:r>
              <a:rPr lang="es-US" dirty="0"/>
              <a:t> = </a:t>
            </a:r>
            <a:r>
              <a:rPr lang="es-US" dirty="0" err="1"/>
              <a:t>func</a:t>
            </a:r>
            <a:r>
              <a:rPr lang="es-US" dirty="0"/>
              <a:t>(*</a:t>
            </a:r>
            <a:r>
              <a:rPr lang="es-US" dirty="0" err="1"/>
              <a:t>args</a:t>
            </a:r>
            <a:r>
              <a:rPr lang="es-US" dirty="0"/>
              <a:t>, **</a:t>
            </a:r>
            <a:r>
              <a:rPr lang="es-US" dirty="0" err="1"/>
              <a:t>kwargs</a:t>
            </a:r>
            <a:r>
              <a:rPr lang="es-US" dirty="0"/>
              <a:t>)</a:t>
            </a:r>
          </a:p>
          <a:p>
            <a:r>
              <a:rPr lang="es-US" dirty="0"/>
              <a:t>        </a:t>
            </a:r>
            <a:r>
              <a:rPr lang="es-US" dirty="0" err="1"/>
              <a:t>print</a:t>
            </a:r>
            <a:r>
              <a:rPr lang="es-US" dirty="0"/>
              <a:t>(</a:t>
            </a:r>
            <a:r>
              <a:rPr lang="es-US" dirty="0" err="1"/>
              <a:t>f"Tiempo</a:t>
            </a:r>
            <a:r>
              <a:rPr lang="es-US" dirty="0"/>
              <a:t>: {</a:t>
            </a:r>
            <a:r>
              <a:rPr lang="es-US" dirty="0" err="1"/>
              <a:t>time.time</a:t>
            </a:r>
            <a:r>
              <a:rPr lang="es-US" dirty="0"/>
              <a:t>() - </a:t>
            </a:r>
            <a:r>
              <a:rPr lang="es-US" dirty="0" err="1"/>
              <a:t>start</a:t>
            </a:r>
            <a:r>
              <a:rPr lang="es-US" dirty="0"/>
              <a:t>}s")</a:t>
            </a:r>
          </a:p>
          <a:p>
            <a:r>
              <a:rPr lang="es-US" dirty="0"/>
              <a:t>        </a:t>
            </a:r>
            <a:r>
              <a:rPr lang="es-US" dirty="0" err="1"/>
              <a:t>return</a:t>
            </a:r>
            <a:r>
              <a:rPr lang="es-US" dirty="0"/>
              <a:t> </a:t>
            </a:r>
            <a:r>
              <a:rPr lang="es-US" dirty="0" err="1"/>
              <a:t>result</a:t>
            </a:r>
            <a:endParaRPr lang="es-US" dirty="0"/>
          </a:p>
          <a:p>
            <a:r>
              <a:rPr lang="es-US" dirty="0"/>
              <a:t>    </a:t>
            </a:r>
            <a:r>
              <a:rPr lang="es-US" dirty="0" err="1"/>
              <a:t>return</a:t>
            </a:r>
            <a:r>
              <a:rPr lang="es-US" dirty="0"/>
              <a:t> </a:t>
            </a:r>
            <a:r>
              <a:rPr lang="es-US" dirty="0" err="1"/>
              <a:t>wrapper</a:t>
            </a:r>
            <a:endParaRPr lang="es-US" dirty="0"/>
          </a:p>
          <a:p>
            <a:endParaRPr lang="es-US" dirty="0"/>
          </a:p>
          <a:p>
            <a:r>
              <a:rPr lang="es-US" dirty="0"/>
              <a:t>@log_time</a:t>
            </a:r>
          </a:p>
          <a:p>
            <a:r>
              <a:rPr lang="es-US" dirty="0" err="1"/>
              <a:t>def</a:t>
            </a:r>
            <a:r>
              <a:rPr lang="es-US" dirty="0"/>
              <a:t> calcular():</a:t>
            </a:r>
          </a:p>
          <a:p>
            <a:r>
              <a:rPr lang="es-US" dirty="0"/>
              <a:t>    </a:t>
            </a:r>
            <a:r>
              <a:rPr lang="es-US" dirty="0" err="1"/>
              <a:t>return</a:t>
            </a:r>
            <a:r>
              <a:rPr lang="es-US" dirty="0"/>
              <a:t> sum(</a:t>
            </a:r>
            <a:r>
              <a:rPr lang="es-US" dirty="0" err="1"/>
              <a:t>range</a:t>
            </a:r>
            <a:r>
              <a:rPr lang="es-US" dirty="0"/>
              <a:t>(1_000_000))</a:t>
            </a:r>
          </a:p>
        </p:txBody>
      </p:sp>
    </p:spTree>
    <p:extLst>
      <p:ext uri="{BB962C8B-B14F-4D97-AF65-F5344CB8AC3E}">
        <p14:creationId xmlns:p14="http://schemas.microsoft.com/office/powerpoint/2010/main" val="3908006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718312-EB58-2572-88D7-9D1567702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514" y="1006325"/>
            <a:ext cx="8761413" cy="706964"/>
          </a:xfrm>
        </p:spPr>
        <p:txBody>
          <a:bodyPr/>
          <a:lstStyle/>
          <a:p>
            <a:r>
              <a:rPr lang="es-US" b="1" dirty="0"/>
              <a:t>Tipos de Decoradores</a:t>
            </a:r>
            <a:br>
              <a:rPr lang="es-US" dirty="0"/>
            </a:br>
            <a:endParaRPr lang="es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7572AE-9B7E-8148-2512-5D723C340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5440" y="2919186"/>
            <a:ext cx="9534817" cy="3579586"/>
          </a:xfrm>
        </p:spPr>
        <p:txBody>
          <a:bodyPr/>
          <a:lstStyle/>
          <a:p>
            <a:r>
              <a:rPr lang="es-US" dirty="0"/>
              <a:t>Existen decoradores para funciones, clases y con parámetros. Cada tipo permite diferentes niveles de personalización y reutilización.</a:t>
            </a:r>
          </a:p>
          <a:p>
            <a:r>
              <a:rPr lang="es-US" b="1" dirty="0"/>
              <a:t>Puntos clave:</a:t>
            </a:r>
            <a:endParaRPr lang="es-US" dirty="0"/>
          </a:p>
          <a:p>
            <a:r>
              <a:rPr lang="es-US" b="1" dirty="0"/>
              <a:t>De funciones</a:t>
            </a:r>
            <a:r>
              <a:rPr lang="es-US" dirty="0"/>
              <a:t>: Modifican funciones.</a:t>
            </a:r>
          </a:p>
          <a:p>
            <a:r>
              <a:rPr lang="es-US" b="1" dirty="0"/>
              <a:t>De clases</a:t>
            </a:r>
            <a:r>
              <a:rPr lang="es-US" dirty="0"/>
              <a:t>: Afectan a toda la clase.</a:t>
            </a:r>
          </a:p>
          <a:p>
            <a:r>
              <a:rPr lang="es-US" b="1" dirty="0"/>
              <a:t>Con parámetros</a:t>
            </a:r>
            <a:r>
              <a:rPr lang="es-US" dirty="0"/>
              <a:t>: Personalizan el comportamiento.</a:t>
            </a:r>
          </a:p>
          <a:p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3024364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A5E3F2-7018-3106-2EC9-D7273CA4F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7697" y="838200"/>
            <a:ext cx="8761413" cy="706964"/>
          </a:xfrm>
        </p:spPr>
        <p:txBody>
          <a:bodyPr/>
          <a:lstStyle/>
          <a:p>
            <a:r>
              <a:rPr lang="es-US" b="1" dirty="0"/>
              <a:t>Decorador con parámetros</a:t>
            </a:r>
            <a:endParaRPr lang="es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728767-D055-B9A8-80EA-468726006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411" y="2603500"/>
            <a:ext cx="8825659" cy="3416300"/>
          </a:xfrm>
        </p:spPr>
        <p:txBody>
          <a:bodyPr>
            <a:noAutofit/>
          </a:bodyPr>
          <a:lstStyle/>
          <a:p>
            <a:r>
              <a:rPr lang="es-US" sz="1400" dirty="0" err="1"/>
              <a:t>def</a:t>
            </a:r>
            <a:r>
              <a:rPr lang="es-US" sz="1400" dirty="0"/>
              <a:t> </a:t>
            </a:r>
            <a:r>
              <a:rPr lang="es-US" sz="1400" dirty="0" err="1"/>
              <a:t>repeat</a:t>
            </a:r>
            <a:r>
              <a:rPr lang="es-US" sz="1400" dirty="0"/>
              <a:t>(n):</a:t>
            </a:r>
          </a:p>
          <a:p>
            <a:r>
              <a:rPr lang="es-US" sz="1400" dirty="0"/>
              <a:t>    </a:t>
            </a:r>
            <a:r>
              <a:rPr lang="es-US" sz="1400" dirty="0" err="1"/>
              <a:t>def</a:t>
            </a:r>
            <a:r>
              <a:rPr lang="es-US" sz="1400" dirty="0"/>
              <a:t> decorador(</a:t>
            </a:r>
            <a:r>
              <a:rPr lang="es-US" sz="1400" dirty="0" err="1"/>
              <a:t>func</a:t>
            </a:r>
            <a:r>
              <a:rPr lang="es-US" sz="1400" dirty="0"/>
              <a:t>):</a:t>
            </a:r>
          </a:p>
          <a:p>
            <a:r>
              <a:rPr lang="es-US" sz="1400" dirty="0"/>
              <a:t>        </a:t>
            </a:r>
            <a:r>
              <a:rPr lang="es-US" sz="1400" dirty="0" err="1"/>
              <a:t>def</a:t>
            </a:r>
            <a:r>
              <a:rPr lang="es-US" sz="1400" dirty="0"/>
              <a:t> </a:t>
            </a:r>
            <a:r>
              <a:rPr lang="es-US" sz="1400" dirty="0" err="1"/>
              <a:t>wrapper</a:t>
            </a:r>
            <a:r>
              <a:rPr lang="es-US" sz="1400" dirty="0"/>
              <a:t>(*</a:t>
            </a:r>
            <a:r>
              <a:rPr lang="es-US" sz="1400" dirty="0" err="1"/>
              <a:t>args</a:t>
            </a:r>
            <a:r>
              <a:rPr lang="es-US" sz="1400" dirty="0"/>
              <a:t>, **</a:t>
            </a:r>
            <a:r>
              <a:rPr lang="es-US" sz="1400" dirty="0" err="1"/>
              <a:t>kwargs</a:t>
            </a:r>
            <a:r>
              <a:rPr lang="es-US" sz="1400" dirty="0"/>
              <a:t>):</a:t>
            </a:r>
          </a:p>
          <a:p>
            <a:r>
              <a:rPr lang="es-US" sz="1400" dirty="0"/>
              <a:t>            </a:t>
            </a:r>
            <a:r>
              <a:rPr lang="es-US" sz="1400" dirty="0" err="1"/>
              <a:t>for</a:t>
            </a:r>
            <a:r>
              <a:rPr lang="es-US" sz="1400" dirty="0"/>
              <a:t> _ in </a:t>
            </a:r>
            <a:r>
              <a:rPr lang="es-US" sz="1400" dirty="0" err="1"/>
              <a:t>range</a:t>
            </a:r>
            <a:r>
              <a:rPr lang="es-US" sz="1400" dirty="0"/>
              <a:t>(n):</a:t>
            </a:r>
          </a:p>
          <a:p>
            <a:r>
              <a:rPr lang="es-US" sz="1400" dirty="0"/>
              <a:t>                </a:t>
            </a:r>
            <a:r>
              <a:rPr lang="es-US" sz="1400" dirty="0" err="1"/>
              <a:t>func</a:t>
            </a:r>
            <a:r>
              <a:rPr lang="es-US" sz="1400" dirty="0"/>
              <a:t>(*</a:t>
            </a:r>
            <a:r>
              <a:rPr lang="es-US" sz="1400" dirty="0" err="1"/>
              <a:t>args</a:t>
            </a:r>
            <a:r>
              <a:rPr lang="es-US" sz="1400" dirty="0"/>
              <a:t>, **</a:t>
            </a:r>
            <a:r>
              <a:rPr lang="es-US" sz="1400" dirty="0" err="1"/>
              <a:t>kwargs</a:t>
            </a:r>
            <a:r>
              <a:rPr lang="es-US" sz="1400" dirty="0"/>
              <a:t>)</a:t>
            </a:r>
          </a:p>
          <a:p>
            <a:r>
              <a:rPr lang="es-US" sz="1400" dirty="0"/>
              <a:t>        </a:t>
            </a:r>
            <a:r>
              <a:rPr lang="es-US" sz="1400" dirty="0" err="1"/>
              <a:t>return</a:t>
            </a:r>
            <a:r>
              <a:rPr lang="es-US" sz="1400" dirty="0"/>
              <a:t> </a:t>
            </a:r>
            <a:r>
              <a:rPr lang="es-US" sz="1400" dirty="0" err="1"/>
              <a:t>wrapper</a:t>
            </a:r>
            <a:endParaRPr lang="es-US" sz="1400" dirty="0"/>
          </a:p>
          <a:p>
            <a:r>
              <a:rPr lang="es-US" sz="1400" dirty="0"/>
              <a:t>    </a:t>
            </a:r>
            <a:r>
              <a:rPr lang="es-US" sz="1400" dirty="0" err="1"/>
              <a:t>return</a:t>
            </a:r>
            <a:r>
              <a:rPr lang="es-US" sz="1400" dirty="0"/>
              <a:t> decorador</a:t>
            </a:r>
          </a:p>
          <a:p>
            <a:endParaRPr lang="es-US" sz="1400" dirty="0"/>
          </a:p>
          <a:p>
            <a:r>
              <a:rPr lang="es-US" sz="1400" dirty="0"/>
              <a:t>@repeat(3)</a:t>
            </a:r>
          </a:p>
          <a:p>
            <a:r>
              <a:rPr lang="es-US" sz="1400" dirty="0" err="1"/>
              <a:t>def</a:t>
            </a:r>
            <a:r>
              <a:rPr lang="es-US" sz="1400" dirty="0"/>
              <a:t> saludar():</a:t>
            </a:r>
          </a:p>
          <a:p>
            <a:r>
              <a:rPr lang="es-US" sz="1400" dirty="0"/>
              <a:t>    </a:t>
            </a:r>
            <a:r>
              <a:rPr lang="es-US" sz="1400" dirty="0" err="1"/>
              <a:t>print</a:t>
            </a:r>
            <a:r>
              <a:rPr lang="es-US" sz="1400" dirty="0"/>
              <a:t>("¡Hola!")</a:t>
            </a:r>
          </a:p>
        </p:txBody>
      </p:sp>
    </p:spTree>
    <p:extLst>
      <p:ext uri="{BB962C8B-B14F-4D97-AF65-F5344CB8AC3E}">
        <p14:creationId xmlns:p14="http://schemas.microsoft.com/office/powerpoint/2010/main" val="3588653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B02EDE-0A36-472F-E7A9-5B7CAC8EB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982" y="1104296"/>
            <a:ext cx="8761413" cy="706964"/>
          </a:xfrm>
        </p:spPr>
        <p:txBody>
          <a:bodyPr/>
          <a:lstStyle/>
          <a:p>
            <a:r>
              <a:rPr lang="es-US" b="1" dirty="0" err="1"/>
              <a:t>Metaclases</a:t>
            </a:r>
            <a:br>
              <a:rPr lang="es-US" dirty="0"/>
            </a:br>
            <a:endParaRPr lang="es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2CA7F7-8EA6-2AF7-77C3-F01A2EE60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1268" y="3528785"/>
            <a:ext cx="9676332" cy="5147129"/>
          </a:xfrm>
        </p:spPr>
        <p:txBody>
          <a:bodyPr/>
          <a:lstStyle/>
          <a:p>
            <a:r>
              <a:rPr lang="es-US" b="1" dirty="0"/>
              <a:t>¿Qué son?</a:t>
            </a:r>
            <a:endParaRPr lang="es-US" dirty="0"/>
          </a:p>
          <a:p>
            <a:r>
              <a:rPr lang="es-US" dirty="0"/>
              <a:t>Las </a:t>
            </a:r>
            <a:r>
              <a:rPr lang="es-US" b="1" dirty="0"/>
              <a:t>"clases de las clases"</a:t>
            </a:r>
            <a:r>
              <a:rPr lang="es-US" dirty="0"/>
              <a:t>, es decir, definen cómo se comportan las clases.</a:t>
            </a:r>
          </a:p>
          <a:p>
            <a:r>
              <a:rPr lang="es-US" dirty="0"/>
              <a:t>Permiten personalizar la </a:t>
            </a:r>
            <a:r>
              <a:rPr lang="es-US" b="1" dirty="0"/>
              <a:t>creación de clases</a:t>
            </a:r>
            <a:r>
              <a:rPr lang="es-US" dirty="0"/>
              <a:t> (no de instancias).</a:t>
            </a:r>
          </a:p>
          <a:p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475739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CD3BCB-DC69-74F3-DF08-5898477BB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Ejemplo</a:t>
            </a:r>
            <a:endParaRPr lang="es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ADC05A-4FC4-52F4-7968-856A9E1F6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US" dirty="0" err="1"/>
              <a:t>class</a:t>
            </a:r>
            <a:r>
              <a:rPr lang="es-US" dirty="0"/>
              <a:t> Meta(</a:t>
            </a:r>
            <a:r>
              <a:rPr lang="es-US" dirty="0" err="1"/>
              <a:t>type</a:t>
            </a:r>
            <a:r>
              <a:rPr lang="es-US" dirty="0"/>
              <a:t>):</a:t>
            </a:r>
          </a:p>
          <a:p>
            <a:r>
              <a:rPr lang="es-US" dirty="0"/>
              <a:t>    </a:t>
            </a:r>
            <a:r>
              <a:rPr lang="es-US" dirty="0" err="1"/>
              <a:t>def</a:t>
            </a:r>
            <a:r>
              <a:rPr lang="es-US" dirty="0"/>
              <a:t> __new__(</a:t>
            </a:r>
            <a:r>
              <a:rPr lang="es-US" dirty="0" err="1"/>
              <a:t>cls</a:t>
            </a:r>
            <a:r>
              <a:rPr lang="es-US" dirty="0"/>
              <a:t>, </a:t>
            </a:r>
            <a:r>
              <a:rPr lang="es-US" dirty="0" err="1"/>
              <a:t>name</a:t>
            </a:r>
            <a:r>
              <a:rPr lang="es-US" dirty="0"/>
              <a:t>, bases, </a:t>
            </a:r>
            <a:r>
              <a:rPr lang="es-US" dirty="0" err="1"/>
              <a:t>attrs</a:t>
            </a:r>
            <a:r>
              <a:rPr lang="es-US" dirty="0"/>
              <a:t>):</a:t>
            </a:r>
          </a:p>
          <a:p>
            <a:r>
              <a:rPr lang="es-US" dirty="0"/>
              <a:t>        </a:t>
            </a:r>
            <a:r>
              <a:rPr lang="es-US" dirty="0" err="1"/>
              <a:t>attrs</a:t>
            </a:r>
            <a:r>
              <a:rPr lang="es-US" dirty="0"/>
              <a:t>["</a:t>
            </a:r>
            <a:r>
              <a:rPr lang="es-US" dirty="0" err="1"/>
              <a:t>version</a:t>
            </a:r>
            <a:r>
              <a:rPr lang="es-US" dirty="0"/>
              <a:t>"] = 1.0  # Añade atributo automáticamente</a:t>
            </a:r>
          </a:p>
          <a:p>
            <a:r>
              <a:rPr lang="es-US" dirty="0"/>
              <a:t>        </a:t>
            </a:r>
            <a:r>
              <a:rPr lang="es-US" dirty="0" err="1"/>
              <a:t>return</a:t>
            </a:r>
            <a:r>
              <a:rPr lang="es-US" dirty="0"/>
              <a:t> super().__new__(</a:t>
            </a:r>
            <a:r>
              <a:rPr lang="es-US" dirty="0" err="1"/>
              <a:t>cls</a:t>
            </a:r>
            <a:r>
              <a:rPr lang="es-US" dirty="0"/>
              <a:t>, </a:t>
            </a:r>
            <a:r>
              <a:rPr lang="es-US" dirty="0" err="1"/>
              <a:t>name</a:t>
            </a:r>
            <a:r>
              <a:rPr lang="es-US" dirty="0"/>
              <a:t>, bases, </a:t>
            </a:r>
            <a:r>
              <a:rPr lang="es-US" dirty="0" err="1"/>
              <a:t>attrs</a:t>
            </a:r>
            <a:r>
              <a:rPr lang="es-US" dirty="0"/>
              <a:t>)</a:t>
            </a:r>
          </a:p>
          <a:p>
            <a:pPr algn="ctr"/>
            <a:endParaRPr lang="es-US" dirty="0"/>
          </a:p>
          <a:p>
            <a:r>
              <a:rPr lang="es-US" dirty="0" err="1"/>
              <a:t>class</a:t>
            </a:r>
            <a:r>
              <a:rPr lang="es-US" dirty="0"/>
              <a:t> </a:t>
            </a:r>
            <a:r>
              <a:rPr lang="es-US" dirty="0" err="1"/>
              <a:t>MiClase</a:t>
            </a:r>
            <a:r>
              <a:rPr lang="es-US" dirty="0"/>
              <a:t>(</a:t>
            </a:r>
            <a:r>
              <a:rPr lang="es-US" dirty="0" err="1"/>
              <a:t>metaclass</a:t>
            </a:r>
            <a:r>
              <a:rPr lang="es-US" dirty="0"/>
              <a:t>=Meta):</a:t>
            </a:r>
          </a:p>
          <a:p>
            <a:r>
              <a:rPr lang="es-US" dirty="0"/>
              <a:t>    </a:t>
            </a:r>
            <a:r>
              <a:rPr lang="es-US" dirty="0" err="1"/>
              <a:t>pass</a:t>
            </a:r>
            <a:endParaRPr lang="es-US" dirty="0"/>
          </a:p>
          <a:p>
            <a:endParaRPr lang="es-US" dirty="0"/>
          </a:p>
          <a:p>
            <a:r>
              <a:rPr lang="es-US" dirty="0" err="1"/>
              <a:t>print</a:t>
            </a:r>
            <a:r>
              <a:rPr lang="es-US" dirty="0"/>
              <a:t>(</a:t>
            </a:r>
            <a:r>
              <a:rPr lang="es-US" dirty="0" err="1"/>
              <a:t>MiClase.version</a:t>
            </a:r>
            <a:r>
              <a:rPr lang="es-US" dirty="0"/>
              <a:t>)  # 1.0</a:t>
            </a:r>
          </a:p>
        </p:txBody>
      </p:sp>
    </p:spTree>
    <p:extLst>
      <p:ext uri="{BB962C8B-B14F-4D97-AF65-F5344CB8AC3E}">
        <p14:creationId xmlns:p14="http://schemas.microsoft.com/office/powerpoint/2010/main" val="1556201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9FFE34-175E-D57A-4522-0E7615ED7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9983" y="838200"/>
            <a:ext cx="8761413" cy="706964"/>
          </a:xfrm>
        </p:spPr>
        <p:txBody>
          <a:bodyPr/>
          <a:lstStyle/>
          <a:p>
            <a:r>
              <a:rPr lang="en-US" dirty="0"/>
              <a:t>Singleton con </a:t>
            </a:r>
            <a:r>
              <a:rPr lang="en-US" dirty="0" err="1"/>
              <a:t>Metaclases</a:t>
            </a:r>
            <a:endParaRPr lang="es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2DBAD2-D46F-93C6-F195-1C2110AA6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8497" y="2603500"/>
            <a:ext cx="8825659" cy="3416300"/>
          </a:xfrm>
        </p:spPr>
        <p:txBody>
          <a:bodyPr>
            <a:normAutofit fontScale="62500" lnSpcReduction="20000"/>
          </a:bodyPr>
          <a:lstStyle/>
          <a:p>
            <a:r>
              <a:rPr lang="es-US" dirty="0" err="1"/>
              <a:t>class</a:t>
            </a:r>
            <a:r>
              <a:rPr lang="es-US" dirty="0"/>
              <a:t> </a:t>
            </a:r>
            <a:r>
              <a:rPr lang="es-US" dirty="0" err="1"/>
              <a:t>SingletonMeta</a:t>
            </a:r>
            <a:r>
              <a:rPr lang="es-US" dirty="0"/>
              <a:t>(</a:t>
            </a:r>
            <a:r>
              <a:rPr lang="es-US" dirty="0" err="1"/>
              <a:t>type</a:t>
            </a:r>
            <a:r>
              <a:rPr lang="es-US" dirty="0"/>
              <a:t>):</a:t>
            </a:r>
          </a:p>
          <a:p>
            <a:r>
              <a:rPr lang="es-US" dirty="0"/>
              <a:t>    _instancias = {}</a:t>
            </a:r>
          </a:p>
          <a:p>
            <a:r>
              <a:rPr lang="es-US" dirty="0"/>
              <a:t>    </a:t>
            </a:r>
            <a:r>
              <a:rPr lang="es-US" dirty="0" err="1"/>
              <a:t>def</a:t>
            </a:r>
            <a:r>
              <a:rPr lang="es-US" dirty="0"/>
              <a:t> __</a:t>
            </a:r>
            <a:r>
              <a:rPr lang="es-US" dirty="0" err="1"/>
              <a:t>call</a:t>
            </a:r>
            <a:r>
              <a:rPr lang="es-US" dirty="0"/>
              <a:t>__(</a:t>
            </a:r>
            <a:r>
              <a:rPr lang="es-US" dirty="0" err="1"/>
              <a:t>cls</a:t>
            </a:r>
            <a:r>
              <a:rPr lang="es-US" dirty="0"/>
              <a:t>, *</a:t>
            </a:r>
            <a:r>
              <a:rPr lang="es-US" dirty="0" err="1"/>
              <a:t>args</a:t>
            </a:r>
            <a:r>
              <a:rPr lang="es-US" dirty="0"/>
              <a:t>, **</a:t>
            </a:r>
            <a:r>
              <a:rPr lang="es-US" dirty="0" err="1"/>
              <a:t>kwargs</a:t>
            </a:r>
            <a:r>
              <a:rPr lang="es-US" dirty="0"/>
              <a:t>):</a:t>
            </a:r>
          </a:p>
          <a:p>
            <a:r>
              <a:rPr lang="es-US" dirty="0"/>
              <a:t>        </a:t>
            </a:r>
            <a:r>
              <a:rPr lang="es-US" dirty="0" err="1"/>
              <a:t>if</a:t>
            </a:r>
            <a:r>
              <a:rPr lang="es-US" dirty="0"/>
              <a:t> </a:t>
            </a:r>
            <a:r>
              <a:rPr lang="es-US" dirty="0" err="1"/>
              <a:t>cls</a:t>
            </a:r>
            <a:r>
              <a:rPr lang="es-US" dirty="0"/>
              <a:t> </a:t>
            </a:r>
            <a:r>
              <a:rPr lang="es-US" dirty="0" err="1"/>
              <a:t>not</a:t>
            </a:r>
            <a:r>
              <a:rPr lang="es-US" dirty="0"/>
              <a:t> in </a:t>
            </a:r>
            <a:r>
              <a:rPr lang="es-US" dirty="0" err="1"/>
              <a:t>cls</a:t>
            </a:r>
            <a:r>
              <a:rPr lang="es-US" dirty="0"/>
              <a:t>._instancias:</a:t>
            </a:r>
          </a:p>
          <a:p>
            <a:r>
              <a:rPr lang="es-US" dirty="0"/>
              <a:t>            </a:t>
            </a:r>
            <a:r>
              <a:rPr lang="es-US" dirty="0" err="1"/>
              <a:t>cls</a:t>
            </a:r>
            <a:r>
              <a:rPr lang="es-US" dirty="0"/>
              <a:t>._instancias[</a:t>
            </a:r>
            <a:r>
              <a:rPr lang="es-US" dirty="0" err="1"/>
              <a:t>cls</a:t>
            </a:r>
            <a:r>
              <a:rPr lang="es-US" dirty="0"/>
              <a:t>] = super().__</a:t>
            </a:r>
            <a:r>
              <a:rPr lang="es-US" dirty="0" err="1"/>
              <a:t>call</a:t>
            </a:r>
            <a:r>
              <a:rPr lang="es-US" dirty="0"/>
              <a:t>__(*</a:t>
            </a:r>
            <a:r>
              <a:rPr lang="es-US" dirty="0" err="1"/>
              <a:t>args</a:t>
            </a:r>
            <a:r>
              <a:rPr lang="es-US" dirty="0"/>
              <a:t>, **</a:t>
            </a:r>
            <a:r>
              <a:rPr lang="es-US" dirty="0" err="1"/>
              <a:t>kwargs</a:t>
            </a:r>
            <a:r>
              <a:rPr lang="es-US" dirty="0"/>
              <a:t>)</a:t>
            </a:r>
          </a:p>
          <a:p>
            <a:r>
              <a:rPr lang="es-US" dirty="0"/>
              <a:t>        </a:t>
            </a:r>
            <a:r>
              <a:rPr lang="es-US" dirty="0" err="1"/>
              <a:t>return</a:t>
            </a:r>
            <a:r>
              <a:rPr lang="es-US" dirty="0"/>
              <a:t> </a:t>
            </a:r>
            <a:r>
              <a:rPr lang="es-US" dirty="0" err="1"/>
              <a:t>cls</a:t>
            </a:r>
            <a:r>
              <a:rPr lang="es-US" dirty="0"/>
              <a:t>._instancias[</a:t>
            </a:r>
            <a:r>
              <a:rPr lang="es-US" dirty="0" err="1"/>
              <a:t>cls</a:t>
            </a:r>
            <a:r>
              <a:rPr lang="es-US" dirty="0"/>
              <a:t>]</a:t>
            </a:r>
          </a:p>
          <a:p>
            <a:endParaRPr lang="es-US" dirty="0"/>
          </a:p>
          <a:p>
            <a:r>
              <a:rPr lang="es-US" dirty="0" err="1"/>
              <a:t>class</a:t>
            </a:r>
            <a:r>
              <a:rPr lang="es-US" dirty="0"/>
              <a:t> </a:t>
            </a:r>
            <a:r>
              <a:rPr lang="es-US" dirty="0" err="1"/>
              <a:t>BaseDeDatos</a:t>
            </a:r>
            <a:r>
              <a:rPr lang="es-US" dirty="0"/>
              <a:t>(</a:t>
            </a:r>
            <a:r>
              <a:rPr lang="es-US" dirty="0" err="1"/>
              <a:t>metaclass</a:t>
            </a:r>
            <a:r>
              <a:rPr lang="es-US" dirty="0"/>
              <a:t>=</a:t>
            </a:r>
            <a:r>
              <a:rPr lang="es-US" dirty="0" err="1"/>
              <a:t>SingletonMeta</a:t>
            </a:r>
            <a:r>
              <a:rPr lang="es-US" dirty="0"/>
              <a:t>):</a:t>
            </a:r>
          </a:p>
          <a:p>
            <a:r>
              <a:rPr lang="es-US" dirty="0"/>
              <a:t>    </a:t>
            </a:r>
            <a:r>
              <a:rPr lang="es-US" dirty="0" err="1"/>
              <a:t>pass</a:t>
            </a:r>
            <a:endParaRPr lang="es-US" dirty="0"/>
          </a:p>
          <a:p>
            <a:endParaRPr lang="es-US" dirty="0"/>
          </a:p>
          <a:p>
            <a:r>
              <a:rPr lang="es-US" dirty="0"/>
              <a:t>db1 = </a:t>
            </a:r>
            <a:r>
              <a:rPr lang="es-US" dirty="0" err="1"/>
              <a:t>BaseDeDatos</a:t>
            </a:r>
            <a:r>
              <a:rPr lang="es-US" dirty="0"/>
              <a:t>()</a:t>
            </a:r>
          </a:p>
          <a:p>
            <a:r>
              <a:rPr lang="es-US" dirty="0"/>
              <a:t>db2 = </a:t>
            </a:r>
            <a:r>
              <a:rPr lang="es-US" dirty="0" err="1"/>
              <a:t>BaseDeDatos</a:t>
            </a:r>
            <a:r>
              <a:rPr lang="es-US" dirty="0"/>
              <a:t>()</a:t>
            </a:r>
          </a:p>
          <a:p>
            <a:r>
              <a:rPr lang="es-US" dirty="0" err="1"/>
              <a:t>print</a:t>
            </a:r>
            <a:r>
              <a:rPr lang="es-US" dirty="0"/>
              <a:t>(db1 </a:t>
            </a:r>
            <a:r>
              <a:rPr lang="es-US" dirty="0" err="1"/>
              <a:t>is</a:t>
            </a:r>
            <a:r>
              <a:rPr lang="es-US" dirty="0"/>
              <a:t> db2)  # True (misma instancia)</a:t>
            </a:r>
          </a:p>
        </p:txBody>
      </p:sp>
    </p:spTree>
    <p:extLst>
      <p:ext uri="{BB962C8B-B14F-4D97-AF65-F5344CB8AC3E}">
        <p14:creationId xmlns:p14="http://schemas.microsoft.com/office/powerpoint/2010/main" val="2166725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0723E0-7313-9CAD-C304-8DB1A5037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/>
              <a:t>Objeto Inmutable con </a:t>
            </a:r>
            <a:r>
              <a:rPr lang="es-US" dirty="0" err="1"/>
              <a:t>Metaclases</a:t>
            </a:r>
            <a:endParaRPr lang="es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8B45E7-EAB9-172A-3CE7-5BAB03446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327" y="2514599"/>
            <a:ext cx="8522446" cy="4136571"/>
          </a:xfrm>
        </p:spPr>
        <p:txBody>
          <a:bodyPr>
            <a:normAutofit fontScale="77500" lnSpcReduction="20000"/>
          </a:bodyPr>
          <a:lstStyle/>
          <a:p>
            <a:r>
              <a:rPr lang="es-US" dirty="0" err="1"/>
              <a:t>class</a:t>
            </a:r>
            <a:r>
              <a:rPr lang="es-US" dirty="0"/>
              <a:t> </a:t>
            </a:r>
            <a:r>
              <a:rPr lang="es-US" dirty="0" err="1"/>
              <a:t>InmutableMeta</a:t>
            </a:r>
            <a:r>
              <a:rPr lang="es-US" dirty="0"/>
              <a:t>(</a:t>
            </a:r>
            <a:r>
              <a:rPr lang="es-US" dirty="0" err="1"/>
              <a:t>type</a:t>
            </a:r>
            <a:r>
              <a:rPr lang="es-US" dirty="0"/>
              <a:t>):</a:t>
            </a:r>
          </a:p>
          <a:p>
            <a:r>
              <a:rPr lang="es-US" dirty="0"/>
              <a:t>    </a:t>
            </a:r>
            <a:r>
              <a:rPr lang="es-US" dirty="0" err="1"/>
              <a:t>def</a:t>
            </a:r>
            <a:r>
              <a:rPr lang="es-US" dirty="0"/>
              <a:t> __new__(</a:t>
            </a:r>
            <a:r>
              <a:rPr lang="es-US" dirty="0" err="1"/>
              <a:t>cls</a:t>
            </a:r>
            <a:r>
              <a:rPr lang="es-US" dirty="0"/>
              <a:t>, </a:t>
            </a:r>
            <a:r>
              <a:rPr lang="es-US" dirty="0" err="1"/>
              <a:t>name</a:t>
            </a:r>
            <a:r>
              <a:rPr lang="es-US" dirty="0"/>
              <a:t>, bases, </a:t>
            </a:r>
            <a:r>
              <a:rPr lang="es-US" dirty="0" err="1"/>
              <a:t>attrs</a:t>
            </a:r>
            <a:r>
              <a:rPr lang="es-US" dirty="0"/>
              <a:t>):</a:t>
            </a:r>
          </a:p>
          <a:p>
            <a:r>
              <a:rPr lang="es-US" dirty="0"/>
              <a:t>        </a:t>
            </a:r>
            <a:r>
              <a:rPr lang="es-US" dirty="0" err="1"/>
              <a:t>def</a:t>
            </a:r>
            <a:r>
              <a:rPr lang="es-US" dirty="0"/>
              <a:t> bloqueador(</a:t>
            </a:r>
            <a:r>
              <a:rPr lang="es-US" dirty="0" err="1"/>
              <a:t>self</a:t>
            </a:r>
            <a:r>
              <a:rPr lang="es-US" dirty="0"/>
              <a:t>, *</a:t>
            </a:r>
            <a:r>
              <a:rPr lang="es-US" dirty="0" err="1"/>
              <a:t>args</a:t>
            </a:r>
            <a:r>
              <a:rPr lang="es-US" dirty="0"/>
              <a:t>, **</a:t>
            </a:r>
            <a:r>
              <a:rPr lang="es-US" dirty="0" err="1"/>
              <a:t>kwargs</a:t>
            </a:r>
            <a:r>
              <a:rPr lang="es-US" dirty="0"/>
              <a:t>):</a:t>
            </a:r>
          </a:p>
          <a:p>
            <a:r>
              <a:rPr lang="es-US" dirty="0"/>
              <a:t>            </a:t>
            </a:r>
            <a:r>
              <a:rPr lang="es-US" dirty="0" err="1"/>
              <a:t>raise</a:t>
            </a:r>
            <a:r>
              <a:rPr lang="es-US" dirty="0"/>
              <a:t> </a:t>
            </a:r>
            <a:r>
              <a:rPr lang="es-US" dirty="0" err="1"/>
              <a:t>AttributeError</a:t>
            </a:r>
            <a:r>
              <a:rPr lang="es-US" dirty="0"/>
              <a:t>("Objeto inmutable")</a:t>
            </a:r>
          </a:p>
          <a:p>
            <a:r>
              <a:rPr lang="es-US" dirty="0"/>
              <a:t>        </a:t>
            </a:r>
            <a:r>
              <a:rPr lang="es-US" dirty="0" err="1"/>
              <a:t>attrs</a:t>
            </a:r>
            <a:r>
              <a:rPr lang="es-US" dirty="0"/>
              <a:t>["__</a:t>
            </a:r>
            <a:r>
              <a:rPr lang="es-US" dirty="0" err="1"/>
              <a:t>setattr</a:t>
            </a:r>
            <a:r>
              <a:rPr lang="es-US" dirty="0"/>
              <a:t>__"] = bloqueador</a:t>
            </a:r>
          </a:p>
          <a:p>
            <a:r>
              <a:rPr lang="es-US" dirty="0"/>
              <a:t>        </a:t>
            </a:r>
            <a:r>
              <a:rPr lang="es-US" dirty="0" err="1"/>
              <a:t>attrs</a:t>
            </a:r>
            <a:r>
              <a:rPr lang="es-US" dirty="0"/>
              <a:t>["__</a:t>
            </a:r>
            <a:r>
              <a:rPr lang="es-US" dirty="0" err="1"/>
              <a:t>delattr</a:t>
            </a:r>
            <a:r>
              <a:rPr lang="es-US" dirty="0"/>
              <a:t>__"] = bloqueador</a:t>
            </a:r>
          </a:p>
          <a:p>
            <a:r>
              <a:rPr lang="es-US" dirty="0"/>
              <a:t>        </a:t>
            </a:r>
            <a:r>
              <a:rPr lang="es-US" dirty="0" err="1"/>
              <a:t>return</a:t>
            </a:r>
            <a:r>
              <a:rPr lang="es-US" dirty="0"/>
              <a:t> super().__new__(</a:t>
            </a:r>
            <a:r>
              <a:rPr lang="es-US" dirty="0" err="1"/>
              <a:t>cls</a:t>
            </a:r>
            <a:r>
              <a:rPr lang="es-US" dirty="0"/>
              <a:t>, </a:t>
            </a:r>
            <a:r>
              <a:rPr lang="es-US" dirty="0" err="1"/>
              <a:t>name</a:t>
            </a:r>
            <a:r>
              <a:rPr lang="es-US" dirty="0"/>
              <a:t>, bases, </a:t>
            </a:r>
            <a:r>
              <a:rPr lang="es-US" dirty="0" err="1"/>
              <a:t>attrs</a:t>
            </a:r>
            <a:r>
              <a:rPr lang="es-US" dirty="0"/>
              <a:t>)</a:t>
            </a:r>
          </a:p>
          <a:p>
            <a:endParaRPr lang="es-US" dirty="0"/>
          </a:p>
          <a:p>
            <a:r>
              <a:rPr lang="es-US" dirty="0" err="1"/>
              <a:t>class</a:t>
            </a:r>
            <a:r>
              <a:rPr lang="es-US" dirty="0"/>
              <a:t> </a:t>
            </a:r>
            <a:r>
              <a:rPr lang="es-US" dirty="0" err="1"/>
              <a:t>Config</a:t>
            </a:r>
            <a:r>
              <a:rPr lang="es-US" dirty="0"/>
              <a:t>(</a:t>
            </a:r>
            <a:r>
              <a:rPr lang="es-US" dirty="0" err="1"/>
              <a:t>metaclass</a:t>
            </a:r>
            <a:r>
              <a:rPr lang="es-US" dirty="0"/>
              <a:t>=</a:t>
            </a:r>
            <a:r>
              <a:rPr lang="es-US" dirty="0" err="1"/>
              <a:t>InmutableMeta</a:t>
            </a:r>
            <a:r>
              <a:rPr lang="es-US" dirty="0"/>
              <a:t>):</a:t>
            </a:r>
          </a:p>
          <a:p>
            <a:r>
              <a:rPr lang="es-US" dirty="0"/>
              <a:t>    </a:t>
            </a:r>
            <a:r>
              <a:rPr lang="es-US" dirty="0" err="1"/>
              <a:t>def</a:t>
            </a:r>
            <a:r>
              <a:rPr lang="es-US" dirty="0"/>
              <a:t> __</a:t>
            </a:r>
            <a:r>
              <a:rPr lang="es-US" dirty="0" err="1"/>
              <a:t>init</a:t>
            </a:r>
            <a:r>
              <a:rPr lang="es-US" dirty="0"/>
              <a:t>__(</a:t>
            </a:r>
            <a:r>
              <a:rPr lang="es-US" dirty="0" err="1"/>
              <a:t>self</a:t>
            </a:r>
            <a:r>
              <a:rPr lang="es-US" dirty="0"/>
              <a:t>):</a:t>
            </a:r>
          </a:p>
          <a:p>
            <a:r>
              <a:rPr lang="es-US" dirty="0"/>
              <a:t>        super().__</a:t>
            </a:r>
            <a:r>
              <a:rPr lang="es-US" dirty="0" err="1"/>
              <a:t>setattr</a:t>
            </a:r>
            <a:r>
              <a:rPr lang="es-US" dirty="0"/>
              <a:t>__("token", "abc123")  # Permitido solo en __</a:t>
            </a:r>
            <a:r>
              <a:rPr lang="es-US" dirty="0" err="1"/>
              <a:t>init</a:t>
            </a:r>
            <a:r>
              <a:rPr lang="es-US" dirty="0"/>
              <a:t>__</a:t>
            </a:r>
          </a:p>
          <a:p>
            <a:endParaRPr lang="es-US" dirty="0"/>
          </a:p>
          <a:p>
            <a:r>
              <a:rPr lang="es-US" dirty="0" err="1"/>
              <a:t>config</a:t>
            </a:r>
            <a:r>
              <a:rPr lang="es-US" dirty="0"/>
              <a:t> = </a:t>
            </a:r>
            <a:r>
              <a:rPr lang="es-US" dirty="0" err="1"/>
              <a:t>Config</a:t>
            </a:r>
            <a:r>
              <a:rPr lang="es-US" dirty="0"/>
              <a:t>()</a:t>
            </a:r>
          </a:p>
          <a:p>
            <a:r>
              <a:rPr lang="es-US" dirty="0" err="1"/>
              <a:t>config.token</a:t>
            </a:r>
            <a:r>
              <a:rPr lang="es-US" dirty="0"/>
              <a:t> = "nuevo"  # Error: Objeto inmutable</a:t>
            </a:r>
          </a:p>
        </p:txBody>
      </p:sp>
    </p:spTree>
    <p:extLst>
      <p:ext uri="{BB962C8B-B14F-4D97-AF65-F5344CB8AC3E}">
        <p14:creationId xmlns:p14="http://schemas.microsoft.com/office/powerpoint/2010/main" val="713344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6A26B3-2810-57A9-6CEA-3BCACA1DD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154" y="1234925"/>
            <a:ext cx="8761413" cy="706964"/>
          </a:xfrm>
        </p:spPr>
        <p:txBody>
          <a:bodyPr/>
          <a:lstStyle/>
          <a:p>
            <a:r>
              <a:rPr lang="es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Programacion</a:t>
            </a:r>
            <a:r>
              <a:rPr lang="es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por Contratos</a:t>
            </a:r>
            <a:br>
              <a:rPr lang="es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s-US" dirty="0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0E93878-369A-A5F0-3A1C-8F414F10F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582" y="2289628"/>
            <a:ext cx="6519475" cy="3906157"/>
          </a:xfrm>
        </p:spPr>
        <p:txBody>
          <a:bodyPr/>
          <a:lstStyle/>
          <a:p>
            <a:endParaRPr lang="es-US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endParaRPr lang="es-US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r>
              <a:rPr lang="es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El </a:t>
            </a:r>
            <a:r>
              <a:rPr lang="es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diseño por contrato</a:t>
            </a:r>
            <a:r>
              <a:rPr lang="es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es una metodología para el diseño e implementación de aplicaciones y componentes popularizada por el lenguaje de programación </a:t>
            </a:r>
            <a:r>
              <a:rPr lang="es-US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2" tooltip="Lenguaje de programación Eiffel"/>
              </a:rPr>
              <a:t>Eiffel</a:t>
            </a:r>
            <a:r>
              <a:rPr lang="es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es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Consiste en considerar los elementos de diseño como participantes de una relación similar al contrato de negocios.</a:t>
            </a:r>
          </a:p>
          <a:p>
            <a:r>
              <a:rPr lang="es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 ello se dota al programador de una serie de nuevos elementos que permite llevar a cabo esta especificación: </a:t>
            </a:r>
            <a:r>
              <a:rPr lang="es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precondiciones</a:t>
            </a:r>
            <a:r>
              <a:rPr lang="es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es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postcondiciones</a:t>
            </a:r>
            <a:r>
              <a:rPr lang="es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e </a:t>
            </a:r>
            <a:r>
              <a:rPr lang="es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invariantes</a:t>
            </a:r>
            <a:endParaRPr lang="es-US" b="0" i="0" dirty="0">
              <a:solidFill>
                <a:srgbClr val="2021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rtl="0">
              <a:buNone/>
            </a:pPr>
            <a:endParaRPr lang="es-US" b="0" i="0" dirty="0">
              <a:solidFill>
                <a:srgbClr val="222222"/>
              </a:solidFill>
              <a:effectLst/>
              <a:latin typeface="inherit"/>
            </a:endParaRPr>
          </a:p>
        </p:txBody>
      </p:sp>
      <p:pic>
        <p:nvPicPr>
          <p:cNvPr id="8" name="Marcador de contenido 4" descr="Diagrama&#10;&#10;El contenido generado por IA puede ser incorrecto.">
            <a:extLst>
              <a:ext uri="{FF2B5EF4-FFF2-40B4-BE49-F238E27FC236}">
                <a16:creationId xmlns:a16="http://schemas.microsoft.com/office/drawing/2014/main" id="{126B95C6-4E89-CF9F-8695-4478405E77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8498" y="2712357"/>
            <a:ext cx="3478920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862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AE4FC2-5113-2FC1-4FA6-083297A0F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                       Precondiciones </a:t>
            </a:r>
            <a:endParaRPr lang="es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E71F8E-6270-BB48-7FC1-310A713A5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9306217" cy="3764643"/>
          </a:xfrm>
        </p:spPr>
        <p:txBody>
          <a:bodyPr>
            <a:normAutofit lnSpcReduction="10000"/>
          </a:bodyPr>
          <a:lstStyle/>
          <a:p>
            <a:r>
              <a:rPr lang="es-US" b="0" i="0" dirty="0">
                <a:solidFill>
                  <a:srgbClr val="222222"/>
                </a:solidFill>
                <a:effectLst/>
                <a:latin typeface="inherit"/>
              </a:rPr>
              <a:t>Son un elemento del "contrato".</a:t>
            </a:r>
          </a:p>
          <a:p>
            <a:r>
              <a:rPr lang="es-US" b="0" i="0" dirty="0">
                <a:solidFill>
                  <a:srgbClr val="222222"/>
                </a:solidFill>
                <a:effectLst/>
                <a:latin typeface="inherit"/>
              </a:rPr>
              <a:t>Se representan mediante una condición que al ser evaluada produce un valor </a:t>
            </a:r>
            <a:r>
              <a:rPr lang="es-US" b="1" i="0" dirty="0">
                <a:solidFill>
                  <a:srgbClr val="222222"/>
                </a:solidFill>
                <a:effectLst/>
                <a:latin typeface="inherit"/>
              </a:rPr>
              <a:t>Verdadero</a:t>
            </a:r>
            <a:r>
              <a:rPr lang="es-US" b="0" i="0" dirty="0">
                <a:solidFill>
                  <a:srgbClr val="222222"/>
                </a:solidFill>
                <a:effectLst/>
                <a:latin typeface="inherit"/>
              </a:rPr>
              <a:t> o </a:t>
            </a:r>
            <a:r>
              <a:rPr lang="es-US" b="1" i="0" dirty="0">
                <a:solidFill>
                  <a:srgbClr val="222222"/>
                </a:solidFill>
                <a:effectLst/>
                <a:latin typeface="inherit"/>
              </a:rPr>
              <a:t>Falso</a:t>
            </a:r>
            <a:r>
              <a:rPr lang="es-US" b="0" i="0" dirty="0">
                <a:solidFill>
                  <a:srgbClr val="222222"/>
                </a:solidFill>
                <a:effectLst/>
                <a:latin typeface="inherit"/>
              </a:rPr>
              <a:t>.</a:t>
            </a:r>
          </a:p>
          <a:p>
            <a:r>
              <a:rPr lang="es-US" b="0" i="0" dirty="0">
                <a:solidFill>
                  <a:srgbClr val="222222"/>
                </a:solidFill>
                <a:effectLst/>
                <a:latin typeface="inherit"/>
              </a:rPr>
              <a:t>Es una propiedad que un método o función "impone" a todos sus clientes.</a:t>
            </a:r>
          </a:p>
          <a:p>
            <a:r>
              <a:rPr lang="es-US" b="0" i="0" dirty="0">
                <a:solidFill>
                  <a:srgbClr val="222222"/>
                </a:solidFill>
                <a:effectLst/>
                <a:latin typeface="inherit"/>
              </a:rPr>
              <a:t>Un método o función puede tener varias precondiciones.</a:t>
            </a:r>
          </a:p>
          <a:p>
            <a:r>
              <a:rPr lang="es-US" b="0" i="0" dirty="0">
                <a:solidFill>
                  <a:srgbClr val="222222"/>
                </a:solidFill>
                <a:effectLst/>
                <a:latin typeface="inherit"/>
              </a:rPr>
              <a:t>Es responsabilidad de un cliente de este método o función asegurar que se satisfacen todas sus precondiciones cuando lo llama.</a:t>
            </a:r>
          </a:p>
          <a:p>
            <a:r>
              <a:rPr lang="es-US" b="0" i="0" dirty="0">
                <a:solidFill>
                  <a:srgbClr val="222222"/>
                </a:solidFill>
                <a:effectLst/>
                <a:latin typeface="inherit"/>
              </a:rPr>
              <a:t>Por tanto, para los clientes del método sus precondiciones son una obligación, mientras que para el método llamado representan lo que éste espera de los clientes que lo llaman.</a:t>
            </a:r>
          </a:p>
          <a:p>
            <a:r>
              <a:rPr lang="es-US" b="0" i="0" dirty="0">
                <a:solidFill>
                  <a:srgbClr val="222222"/>
                </a:solidFill>
                <a:effectLst/>
                <a:latin typeface="inherit"/>
              </a:rPr>
              <a:t>Son útiles cuando estamos depurando. Si no se cumple una precondición…​el fallo está en el cliente del método que la ha definido.</a:t>
            </a:r>
          </a:p>
          <a:p>
            <a:pPr marL="0" indent="0">
              <a:buNone/>
            </a:pPr>
            <a:endParaRPr lang="es-US" b="0" i="0" dirty="0">
              <a:solidFill>
                <a:srgbClr val="222222"/>
              </a:solidFill>
              <a:effectLst/>
              <a:latin typeface="inherit"/>
            </a:endParaRPr>
          </a:p>
          <a:p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3597635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00D027-5E68-E153-787E-2D5B1521E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                 Postcondiciones </a:t>
            </a:r>
            <a:endParaRPr lang="es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3E5C78-24A2-0399-A18B-88709787F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US" b="0" i="0" dirty="0">
                <a:solidFill>
                  <a:srgbClr val="222222"/>
                </a:solidFill>
                <a:effectLst/>
                <a:latin typeface="inherit"/>
              </a:rPr>
              <a:t>Son otro de los elementos del "contrato".</a:t>
            </a:r>
          </a:p>
          <a:p>
            <a:r>
              <a:rPr lang="es-US" b="0" i="0" dirty="0">
                <a:solidFill>
                  <a:srgbClr val="222222"/>
                </a:solidFill>
                <a:effectLst/>
                <a:latin typeface="Helvetica Neue"/>
              </a:rPr>
              <a:t>Representan lo que obtendrán los clientes del método actual cuando este acabe…</a:t>
            </a:r>
          </a:p>
          <a:p>
            <a:r>
              <a:rPr lang="es-US" b="0" i="0" dirty="0">
                <a:solidFill>
                  <a:srgbClr val="222222"/>
                </a:solidFill>
                <a:effectLst/>
                <a:latin typeface="inherit"/>
              </a:rPr>
              <a:t>Evidentemente…​ si han cumplido las precondiciones del mismo.</a:t>
            </a:r>
          </a:p>
          <a:p>
            <a:r>
              <a:rPr lang="es-US" b="0" i="0" dirty="0">
                <a:solidFill>
                  <a:srgbClr val="222222"/>
                </a:solidFill>
                <a:effectLst/>
                <a:latin typeface="inherit"/>
              </a:rPr>
              <a:t>Son, por tanto, una obligación para el método actual que la define.</a:t>
            </a:r>
          </a:p>
          <a:p>
            <a:r>
              <a:rPr lang="es-US" b="0" i="0" dirty="0">
                <a:solidFill>
                  <a:srgbClr val="222222"/>
                </a:solidFill>
                <a:effectLst/>
                <a:latin typeface="inherit"/>
              </a:rPr>
              <a:t>Es este método el que debe asegurar que al terminar…​todas sus postcondiciones se cumplen.</a:t>
            </a:r>
          </a:p>
          <a:p>
            <a:r>
              <a:rPr lang="es-US" b="0" i="0" dirty="0">
                <a:solidFill>
                  <a:srgbClr val="222222"/>
                </a:solidFill>
                <a:effectLst/>
                <a:latin typeface="inherit"/>
              </a:rPr>
              <a:t>Son útiles cuando estamos depurando. Si no se cumple una postcondición…​el fallo está en el método que la ha definido.</a:t>
            </a:r>
          </a:p>
          <a:p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3060173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090C8B-B9E8-3094-9163-45C215EEB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						Invariantes </a:t>
            </a:r>
            <a:endParaRPr lang="es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DF6F42-C612-8DFD-EBCD-426AFC15E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US" b="0" i="0" dirty="0">
                <a:solidFill>
                  <a:srgbClr val="222222"/>
                </a:solidFill>
                <a:effectLst/>
                <a:latin typeface="Helvetica Neue"/>
              </a:rPr>
              <a:t>Son el último de los elementos del "contrato“</a:t>
            </a:r>
          </a:p>
          <a:p>
            <a:r>
              <a:rPr lang="es-US" b="0" i="1" dirty="0">
                <a:solidFill>
                  <a:srgbClr val="222222"/>
                </a:solidFill>
                <a:effectLst/>
                <a:latin typeface="inherit"/>
              </a:rPr>
              <a:t>Precondiciones</a:t>
            </a:r>
            <a:r>
              <a:rPr lang="es-US" b="0" i="0" dirty="0">
                <a:solidFill>
                  <a:srgbClr val="222222"/>
                </a:solidFill>
                <a:effectLst/>
                <a:latin typeface="inherit"/>
              </a:rPr>
              <a:t> y </a:t>
            </a:r>
            <a:r>
              <a:rPr lang="es-US" b="0" i="1" dirty="0">
                <a:solidFill>
                  <a:srgbClr val="222222"/>
                </a:solidFill>
                <a:effectLst/>
                <a:latin typeface="inherit"/>
              </a:rPr>
              <a:t>postcondiciones</a:t>
            </a:r>
            <a:r>
              <a:rPr lang="es-US" b="0" i="0" dirty="0">
                <a:solidFill>
                  <a:srgbClr val="222222"/>
                </a:solidFill>
                <a:effectLst/>
                <a:latin typeface="inherit"/>
              </a:rPr>
              <a:t> son propiedades lógicas que están asociadas con un método o función particular.</a:t>
            </a:r>
          </a:p>
          <a:p>
            <a:r>
              <a:rPr lang="es-US" b="0" i="0" dirty="0">
                <a:solidFill>
                  <a:srgbClr val="222222"/>
                </a:solidFill>
                <a:effectLst/>
                <a:latin typeface="inherit"/>
              </a:rPr>
              <a:t>Hay ocasiones donde queremos asociar una de estas propiedades lógicas con una "</a:t>
            </a:r>
            <a:r>
              <a:rPr lang="es-US" b="0" i="1" dirty="0">
                <a:solidFill>
                  <a:srgbClr val="222222"/>
                </a:solidFill>
                <a:effectLst/>
                <a:latin typeface="inherit"/>
              </a:rPr>
              <a:t>clase</a:t>
            </a:r>
            <a:r>
              <a:rPr lang="es-US" b="0" i="0" dirty="0">
                <a:solidFill>
                  <a:srgbClr val="222222"/>
                </a:solidFill>
                <a:effectLst/>
                <a:latin typeface="inherit"/>
              </a:rPr>
              <a:t>".</a:t>
            </a:r>
          </a:p>
          <a:p>
            <a:r>
              <a:rPr lang="es-US" b="0" i="0" dirty="0">
                <a:solidFill>
                  <a:srgbClr val="222222"/>
                </a:solidFill>
                <a:effectLst/>
                <a:latin typeface="inherit"/>
              </a:rPr>
              <a:t>A estas propiedades se las conoce como "</a:t>
            </a:r>
            <a:r>
              <a:rPr lang="es-US" b="1" i="0" dirty="0">
                <a:solidFill>
                  <a:srgbClr val="222222"/>
                </a:solidFill>
                <a:effectLst/>
                <a:latin typeface="inherit"/>
              </a:rPr>
              <a:t>Invariantes de clase</a:t>
            </a:r>
            <a:r>
              <a:rPr lang="es-US" b="0" i="0" dirty="0">
                <a:solidFill>
                  <a:srgbClr val="222222"/>
                </a:solidFill>
                <a:effectLst/>
                <a:latin typeface="inherit"/>
              </a:rPr>
              <a:t>". Una clase puede tener varios invariantes.</a:t>
            </a:r>
          </a:p>
          <a:p>
            <a:r>
              <a:rPr lang="es-US" b="0" i="0" dirty="0">
                <a:solidFill>
                  <a:srgbClr val="222222"/>
                </a:solidFill>
                <a:effectLst/>
                <a:latin typeface="inherit"/>
              </a:rPr>
              <a:t>Estos invariantes se deben cumplir </a:t>
            </a:r>
            <a:r>
              <a:rPr lang="es-US" b="1" i="0" dirty="0">
                <a:solidFill>
                  <a:srgbClr val="222222"/>
                </a:solidFill>
                <a:effectLst/>
                <a:latin typeface="inherit"/>
              </a:rPr>
              <a:t>nada más crear un objeto</a:t>
            </a:r>
            <a:r>
              <a:rPr lang="es-US" b="0" i="0" dirty="0">
                <a:solidFill>
                  <a:srgbClr val="222222"/>
                </a:solidFill>
                <a:effectLst/>
                <a:latin typeface="inherit"/>
              </a:rPr>
              <a:t> de la clase y </a:t>
            </a:r>
            <a:r>
              <a:rPr lang="es-US" b="1" i="0" dirty="0">
                <a:solidFill>
                  <a:srgbClr val="222222"/>
                </a:solidFill>
                <a:effectLst/>
                <a:latin typeface="inherit"/>
              </a:rPr>
              <a:t>antes</a:t>
            </a:r>
            <a:r>
              <a:rPr lang="es-US" b="0" i="0" dirty="0">
                <a:solidFill>
                  <a:srgbClr val="222222"/>
                </a:solidFill>
                <a:effectLst/>
                <a:latin typeface="inherit"/>
              </a:rPr>
              <a:t> y </a:t>
            </a:r>
            <a:r>
              <a:rPr lang="es-US" b="1" i="0" dirty="0">
                <a:solidFill>
                  <a:srgbClr val="222222"/>
                </a:solidFill>
                <a:effectLst/>
                <a:latin typeface="inherit"/>
              </a:rPr>
              <a:t>después</a:t>
            </a:r>
            <a:r>
              <a:rPr lang="es-US" b="0" i="0" dirty="0">
                <a:solidFill>
                  <a:srgbClr val="222222"/>
                </a:solidFill>
                <a:effectLst/>
                <a:latin typeface="inherit"/>
              </a:rPr>
              <a:t> de ejecutar cualquier método de la misma.</a:t>
            </a:r>
          </a:p>
          <a:p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10374385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D38C47-7E1E-EDB1-7C8A-B697A6B0C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Caso </a:t>
            </a:r>
            <a:r>
              <a:rPr lang="en-US" dirty="0" err="1"/>
              <a:t>práctico</a:t>
            </a:r>
            <a:r>
              <a:rPr lang="en-US" dirty="0"/>
              <a:t> : </a:t>
            </a:r>
            <a:r>
              <a:rPr lang="en-US" dirty="0" err="1"/>
              <a:t>Decorador</a:t>
            </a:r>
            <a:r>
              <a:rPr lang="en-US" dirty="0"/>
              <a:t> @contract</a:t>
            </a:r>
            <a:endParaRPr lang="es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870518-B5A9-9C90-5F8A-5AD7766FA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US" dirty="0"/>
              <a:t>Implementación de programación por contratos con pre/postcondiciones. Valida entradas y salidas automáticamente.</a:t>
            </a:r>
          </a:p>
          <a:p>
            <a:pPr marL="0" indent="0">
              <a:buNone/>
            </a:pPr>
            <a:endParaRPr lang="es-US" dirty="0"/>
          </a:p>
          <a:p>
            <a:pPr marL="0" indent="0">
              <a:buNone/>
            </a:pPr>
            <a:r>
              <a:rPr lang="pt-BR" dirty="0"/>
              <a:t>@contract(require=lambda x: x &gt; 0, </a:t>
            </a:r>
            <a:r>
              <a:rPr lang="pt-BR" dirty="0" err="1"/>
              <a:t>ensure</a:t>
            </a:r>
            <a:r>
              <a:rPr lang="pt-BR" dirty="0"/>
              <a:t>=lambda r: r &gt;= 0)</a:t>
            </a:r>
          </a:p>
          <a:p>
            <a:pPr marL="0" indent="0">
              <a:buNone/>
            </a:pPr>
            <a:r>
              <a:rPr lang="pt-BR" dirty="0" err="1"/>
              <a:t>def</a:t>
            </a:r>
            <a:r>
              <a:rPr lang="pt-BR" dirty="0"/>
              <a:t> </a:t>
            </a:r>
            <a:r>
              <a:rPr lang="pt-BR" dirty="0" err="1"/>
              <a:t>raiz_cuadrada</a:t>
            </a:r>
            <a:r>
              <a:rPr lang="pt-BR" dirty="0"/>
              <a:t>(x):</a:t>
            </a:r>
          </a:p>
          <a:p>
            <a:pPr marL="0" indent="0">
              <a:buNone/>
            </a:pPr>
            <a:r>
              <a:rPr lang="pt-BR" dirty="0"/>
              <a:t>    </a:t>
            </a:r>
            <a:r>
              <a:rPr lang="pt-BR" dirty="0" err="1"/>
              <a:t>return</a:t>
            </a:r>
            <a:r>
              <a:rPr lang="pt-BR" dirty="0"/>
              <a:t> x ** 0.5</a:t>
            </a:r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479805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C187D3-E6BF-BDE6-5909-38AC30CC6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708" y="838200"/>
            <a:ext cx="9154367" cy="842432"/>
          </a:xfrm>
        </p:spPr>
        <p:txBody>
          <a:bodyPr/>
          <a:lstStyle/>
          <a:p>
            <a:r>
              <a:rPr lang="es-419" sz="3200" dirty="0"/>
              <a:t>    Ventajas de la programación por contrato </a:t>
            </a:r>
            <a:endParaRPr lang="es-US" sz="3200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99893A4-2620-7FB6-5259-6359008E2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2891" y="2536372"/>
            <a:ext cx="9306217" cy="4234542"/>
          </a:xfrm>
        </p:spPr>
        <p:txBody>
          <a:bodyPr>
            <a:normAutofit/>
          </a:bodyPr>
          <a:lstStyle/>
          <a:p>
            <a:r>
              <a:rPr lang="es-US" sz="2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Una mejor comprensión de la programación orientada a objetos.</a:t>
            </a:r>
          </a:p>
          <a:p>
            <a:r>
              <a:rPr lang="es-US" sz="2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Menos errores en el código gracias a una mejor representación de las especificaciones.</a:t>
            </a:r>
          </a:p>
          <a:p>
            <a:r>
              <a:rPr lang="es-US" sz="2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Un sistema efectivo para detectar errores.</a:t>
            </a:r>
          </a:p>
          <a:p>
            <a:r>
              <a:rPr lang="es-US" sz="2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Una forma práctica de documentar el código al mismo tiempo en que se programa.</a:t>
            </a:r>
          </a:p>
          <a:p>
            <a:r>
              <a:rPr lang="es-US" sz="2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Una compatibilidad eficaz con los mecanismos de herencia y reutilización.</a:t>
            </a:r>
          </a:p>
          <a:p>
            <a:r>
              <a:rPr lang="es-US" sz="2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Una forma efectiva de encapsulación evitando el acceso al resto de propiedades y métodos.</a:t>
            </a:r>
          </a:p>
          <a:p>
            <a:r>
              <a:rPr lang="es-US" sz="2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Una agrupación de operaciones para un mismo contexto.</a:t>
            </a:r>
            <a:endParaRPr lang="es-US" sz="2000" dirty="0"/>
          </a:p>
        </p:txBody>
      </p:sp>
    </p:spTree>
    <p:extLst>
      <p:ext uri="{BB962C8B-B14F-4D97-AF65-F5344CB8AC3E}">
        <p14:creationId xmlns:p14="http://schemas.microsoft.com/office/powerpoint/2010/main" val="10980033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Verde amarillo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Sala de reuniones 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la de reuniones 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166</TotalTime>
  <Words>1162</Words>
  <Application>Microsoft Office PowerPoint</Application>
  <PresentationFormat>Panorámica</PresentationFormat>
  <Paragraphs>124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Arial</vt:lpstr>
      <vt:lpstr>Century Gothic</vt:lpstr>
      <vt:lpstr>Consolas</vt:lpstr>
      <vt:lpstr>Helvetica Neue</vt:lpstr>
      <vt:lpstr>inherit</vt:lpstr>
      <vt:lpstr>Wingdings 3</vt:lpstr>
      <vt:lpstr>Sala de reuniones Ion</vt:lpstr>
      <vt:lpstr>Python y la Metaprogramacion</vt:lpstr>
      <vt:lpstr>Introducción a la Metaprogramación</vt:lpstr>
      <vt:lpstr>Decoradores </vt:lpstr>
      <vt:lpstr>Ejemplo</vt:lpstr>
      <vt:lpstr>Tipos de Decoradores </vt:lpstr>
      <vt:lpstr>Decorador con parámetros</vt:lpstr>
      <vt:lpstr>Metaclases </vt:lpstr>
      <vt:lpstr>Ejemplo</vt:lpstr>
      <vt:lpstr>Singleton con Metaclases</vt:lpstr>
      <vt:lpstr>Objeto Inmutable con Metaclases</vt:lpstr>
      <vt:lpstr>Programacion por Contratos </vt:lpstr>
      <vt:lpstr>                       Precondiciones </vt:lpstr>
      <vt:lpstr>                 Postcondiciones </vt:lpstr>
      <vt:lpstr>      Invariantes </vt:lpstr>
      <vt:lpstr>Caso práctico : Decorador @contract</vt:lpstr>
      <vt:lpstr>    Ventajas de la programación por contrato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Alberto</dc:creator>
  <cp:lastModifiedBy>Alberto</cp:lastModifiedBy>
  <cp:revision>4</cp:revision>
  <dcterms:created xsi:type="dcterms:W3CDTF">2025-05-23T17:46:23Z</dcterms:created>
  <dcterms:modified xsi:type="dcterms:W3CDTF">2025-06-16T13:21:15Z</dcterms:modified>
</cp:coreProperties>
</file>